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Do Hyeon" panose="020B0600000101010101" charset="-127"/>
      <p:regular r:id="rId10"/>
    </p:embeddedFont>
    <p:embeddedFont>
      <p:font typeface="Noto Sans KR" panose="020B0200000000000000" pitchFamily="50" charset="-127"/>
      <p:regular r:id="rId11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S_API17873058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S_API17873058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14:00~14:10. 팀 이름, 직무, 역할을 정합니다. 제작 PC는 유료 Claude 계정이 있는 사람 노트북으로 정해요.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SLIDES_API178730584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SLIDES_API178730584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14:10~14:25 불편 모으기, 14:25~14:35 점수. 「현업의 불편 찾기」 교안의 길 1~5를 팀원이 하나씩 맡아요.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SLIDES_API178730584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SLIDES_API178730584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14:35~14:45. 단계를 너무 잘게 나누지 말고 4단계 안에서 적어요. 시간은 대략이어도 괜찮아요(가상 숫자 가능).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SLIDES_API178730584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SLIDES_API178730584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세 번째 답이 "정해진 창구가 없다", "기록이 한곳에 없다"처럼 구조를 가리키면 좋은 원인이에요.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SLIDES_API178730584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SLIDES_API178730584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오전 실습 4의 판별 기준 그대로입니다. 툴로 제작이 하나도 없으면 주제를 다시 봐야 해요.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SLIDES_API178730584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SLIDES_API178730584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1~5장 내용을 AI에게 넘겨 "기능을 5개로 쪼개줘"라고 하면 초안이 나옵니다. 다 쓰면 파일 → 다운로드 → 일반 텍스트(.txt)나 PDF로 받아 팀 작업 폴더에 넣고, 첫 요청은 "이 파일을 읽고 1번 기능부터 만들어 줘".</a:t>
            </a:r>
            <a:endParaRPr/>
          </a:p>
          <a:p/>
          <a:p>
            <a:r>
              <a:t>[기획서 정리용 벤치마킹 근거]</a:t>
            </a:r>
          </a:p>
          <a:p>
            <a:r>
              <a:t>Feedly: 공개 웹의 경쟁사·시장 신호를 모아 중복 기사를 걸러 내고 AI 브리핑으로 정리. 시장 인텔리전스 요금제가 월 1,600달러부터라 작은 팀엔 부담. 유사도 기준 중복 제거라 큰 뉴스는 같은 소식이 여러 번 뜬다는 지적.</a:t>
            </a:r>
          </a:p>
          <a:p>
            <a:r>
              <a:t>Klue: 경쟁사 정보를 한곳에 모으는 도구. 웹 자료를 저장하며 핵심 문장 강조·댓글, AI 분류, 부서별 뉴스레터 제공. 직원이 퇴사해도 정보가 남는다는 점이 장점으로 꼽힘.</a:t>
            </a:r>
          </a:p>
          <a:p>
            <a:r>
              <a:t>Raindrop.io: 제목·메모·태그·본문까지 검색. 중복 찾기는 URL이 완전히 같을 때만 판단. 팀 공유 컬렉션 지원.</a:t>
            </a:r>
          </a:p>
          <a:p>
            <a:r>
              <a:t>빅카인즈: 한국언론진흥재단 뉴스 분석 플랫폼. 기사 빈도 시계열 트렌드, 관계도, 연관어 분석.</a:t>
            </a:r>
          </a:p>
          <a:p>
            <a:r>
              <a:t>→ 우리 차별점: 한국어 기사, 소규모 기획팀, 별도 비용 없음, URL+제목 중복 비교, 등록부터 보고서 초안까지.</a:t>
            </a:r>
          </a:p>
          <a:p/>
          <a:p>
            <a:r>
              <a:t>[16:40 제작 요청 순서] 1 등록·저장(메모 포함) → 2 통합 검색·분류 필터 → 3 중복 방지 → 4 AI 요약·분류 자동 입력 → 5 후속 연결·주간 브리핑. 1~3번이 완성 기준(입력→저장→다른 사람 화면 조회)이므로 먼저 끝내고, 4~5번은 시간 되는 만큼.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SLIDES_API178730584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SLIDES_API178730584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15:10부터 팀당 3분 발표. 2장(불편 모으기)은 자동으로 건너뛰므로 1, 3, 4, 5, 6, 7장만 나옵니다.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04800" y="152400"/>
            <a:ext cx="596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600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우리 팀</a:t>
            </a:r>
            <a:endParaRPr sz="2600">
              <a:solidFill>
                <a:srgbClr val="1A1A1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04800" y="609600"/>
            <a:ext cx="8534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회색 글씨를 지우고 적어요. 이 장은 발표 첫 장이 됩니다.</a:t>
            </a:r>
            <a:endParaRPr sz="1000">
              <a:solidFill>
                <a:srgbClr val="C2500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304800" y="939800"/>
            <a:ext cx="5334000" cy="60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 cap="flat" cmpd="sng">
            <a:solidFill>
              <a:srgbClr val="EE6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dirty="0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1팀  |  제조기업 기획팀 (기획 전략)</a:t>
            </a:r>
            <a:endParaRPr sz="1800">
              <a:solidFill>
                <a:srgbClr val="9A9A95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304800" y="1651000"/>
            <a:ext cx="5334000" cy="507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기획 4명, 마케팅 2명 총 6명</a:t>
            </a:r>
            <a:endParaRPr altLang="en-US"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04800" y="22860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팀원과 역할</a:t>
            </a:r>
            <a:endParaRPr sz="1000" b="1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304800" y="2514600"/>
            <a:ext cx="1397100" cy="254100"/>
          </a:xfrm>
          <a:prstGeom prst="rect">
            <a:avLst/>
          </a:prstGeom>
          <a:solidFill>
            <a:srgbClr val="1A1A1A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이름</a:t>
            </a:r>
            <a:endParaRPr sz="85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1701800" y="2514600"/>
            <a:ext cx="3936900" cy="254100"/>
          </a:xfrm>
          <a:prstGeom prst="rect">
            <a:avLst/>
          </a:prstGeom>
          <a:solidFill>
            <a:srgbClr val="1A1A1A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역할 (제작 · 데이터 · 테스트 · 발표 · 기록)</a:t>
            </a:r>
            <a:endParaRPr sz="85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304800" y="2768600"/>
            <a:ext cx="1397100" cy="330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권</a:t>
            </a:r>
            <a:r>
              <a:rPr lang="en-US" altLang="ko-KR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00</a:t>
            </a:r>
            <a:endParaRPr sz="950" dirty="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1701800" y="2768600"/>
            <a:ext cx="3936900" cy="330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기록</a:t>
            </a:r>
            <a:r>
              <a:rPr lang="ko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 dirty="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304700" y="3086050"/>
            <a:ext cx="1397100" cy="330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손</a:t>
            </a:r>
            <a:r>
              <a:rPr lang="en-US" altLang="ko-KR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00</a:t>
            </a:r>
            <a:r>
              <a:rPr lang="ko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 dirty="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1701800" y="3098800"/>
            <a:ext cx="3936900" cy="330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발표</a:t>
            </a:r>
            <a:endParaRPr sz="950" dirty="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5" name="Google Shape;65;p1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4800" y="3429000"/>
            <a:ext cx="1397100" cy="330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신</a:t>
            </a:r>
            <a:r>
              <a:rPr lang="en-US" altLang="ko-KR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00</a:t>
            </a:r>
            <a:r>
              <a:rPr lang="ko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 dirty="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1701800" y="3429000"/>
            <a:ext cx="3936900" cy="330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304700" y="3733700"/>
            <a:ext cx="1397100" cy="330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권</a:t>
            </a:r>
            <a:r>
              <a:rPr lang="en-US" altLang="ko-KR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00</a:t>
            </a:r>
            <a:r>
              <a:rPr lang="ko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 dirty="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1701800" y="3759200"/>
            <a:ext cx="3936900" cy="330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발표</a:t>
            </a:r>
            <a:r>
              <a:rPr lang="ko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 dirty="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304800" y="4089400"/>
            <a:ext cx="1397100" cy="330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김</a:t>
            </a:r>
            <a:r>
              <a:rPr lang="en-US" altLang="ko-KR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00</a:t>
            </a:r>
            <a:r>
              <a:rPr lang="ko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 dirty="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1701800" y="4089400"/>
            <a:ext cx="3936900" cy="330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1" name="Google Shape;71;p13"/>
          <p:cNvSpPr/>
          <p:nvPr/>
        </p:nvSpPr>
        <p:spPr>
          <a:xfrm>
            <a:off x="5842000" y="939800"/>
            <a:ext cx="2997300" cy="1219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백00</a:t>
            </a:r>
            <a:endParaRPr altLang="en-US"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2" name="Google Shape;72;p13"/>
          <p:cNvSpPr/>
          <p:nvPr/>
        </p:nvSpPr>
        <p:spPr>
          <a:xfrm>
            <a:off x="5842000" y="2286000"/>
            <a:ext cx="2997300" cy="8127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GitHub 아이디 (선택)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3" name="Google Shape;73;p13"/>
          <p:cNvSpPr/>
          <p:nvPr/>
        </p:nvSpPr>
        <p:spPr>
          <a:xfrm>
            <a:off x="5842000" y="3251200"/>
            <a:ext cx="2997300" cy="1193700"/>
          </a:xfrm>
          <a:prstGeom prst="roundRect">
            <a:avLst>
              <a:gd name="adj" fmla="val 16667"/>
            </a:avLst>
          </a:prstGeom>
          <a:solidFill>
            <a:srgbClr val="FBEDE5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오늘 목표</a:t>
            </a:r>
            <a:endParaRPr sz="11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입력 → 저장 → 조회되는 프로그램 1개 + 인터넷 주소</a:t>
            </a:r>
            <a:endParaRPr sz="11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/>
        </p:nvSpPr>
        <p:spPr>
          <a:xfrm>
            <a:off x="304800" y="152400"/>
            <a:ext cx="596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600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불편 모으기</a:t>
            </a:r>
            <a:endParaRPr sz="2600">
              <a:solidFill>
                <a:srgbClr val="1A1A1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304800" y="609600"/>
            <a:ext cx="8534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발표 때는 자동으로 건너뛰는 장이에요. 팀원이 찾는 길을 나눠 맡아 6개 이상 채워요.</a:t>
            </a:r>
            <a:endParaRPr sz="1000">
              <a:solidFill>
                <a:srgbClr val="C2500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304800" y="939800"/>
            <a:ext cx="279300" cy="254100"/>
          </a:xfrm>
          <a:prstGeom prst="rect">
            <a:avLst/>
          </a:prstGeom>
          <a:solidFill>
            <a:srgbClr val="1A1A1A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#</a:t>
            </a:r>
            <a:endParaRPr sz="85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584200" y="939800"/>
            <a:ext cx="3327300" cy="254100"/>
          </a:xfrm>
          <a:prstGeom prst="rect">
            <a:avLst/>
          </a:prstGeom>
          <a:solidFill>
            <a:srgbClr val="1A1A1A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불편한 일 (매번 · 일일이 · 취합 · 옮겨 적음)</a:t>
            </a:r>
            <a:endParaRPr sz="85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3911600" y="939800"/>
            <a:ext cx="838200" cy="254100"/>
          </a:xfrm>
          <a:prstGeom prst="rect">
            <a:avLst/>
          </a:prstGeom>
          <a:solidFill>
            <a:srgbClr val="1A1A1A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누가 겪나</a:t>
            </a:r>
            <a:endParaRPr sz="85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4749800" y="939800"/>
            <a:ext cx="1143000" cy="254100"/>
          </a:xfrm>
          <a:prstGeom prst="rect">
            <a:avLst/>
          </a:prstGeom>
          <a:solidFill>
            <a:srgbClr val="1A1A1A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어디서 찾았나</a:t>
            </a:r>
            <a:endParaRPr sz="85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304800" y="1193800"/>
            <a:ext cx="279300" cy="381000"/>
          </a:xfrm>
          <a:prstGeom prst="rect">
            <a:avLst/>
          </a:prstGeom>
          <a:solidFill>
            <a:srgbClr val="F2F2EE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584200" y="1193800"/>
            <a:ext cx="33273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부서별 실적을 엑셀로 받아 취합, 양식이 제각각이라 다시 맞춤</a:t>
            </a:r>
            <a:endParaRPr sz="8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3911600" y="1193800"/>
            <a:ext cx="8382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제조 경영기획 신입</a:t>
            </a:r>
            <a:endParaRPr sz="8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4749800" y="1193800"/>
            <a:ext cx="11430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현직자 글</a:t>
            </a:r>
            <a:endParaRPr sz="8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304800" y="1574800"/>
            <a:ext cx="279300" cy="381000"/>
          </a:xfrm>
          <a:prstGeom prst="rect">
            <a:avLst/>
          </a:prstGeom>
          <a:solidFill>
            <a:srgbClr val="F2F2EE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584200" y="1574800"/>
            <a:ext cx="33273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경영회의 자료 수정본이 계속 와서 최종본이 헷갈림</a:t>
            </a:r>
            <a:endParaRPr sz="8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3911600" y="1574800"/>
            <a:ext cx="8382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제조 경영기획 신입</a:t>
            </a:r>
            <a:endParaRPr sz="8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4749800" y="1574800"/>
            <a:ext cx="11430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현직자 글·AI 인터뷰</a:t>
            </a:r>
            <a:endParaRPr sz="8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304800" y="1955800"/>
            <a:ext cx="279300" cy="381000"/>
          </a:xfrm>
          <a:prstGeom prst="rect">
            <a:avLst/>
          </a:prstGeom>
          <a:solidFill>
            <a:srgbClr val="F2F2EE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584200" y="1955800"/>
            <a:ext cx="33273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지역·팀별 판매실적을 매일 마감해 윗선에 보고</a:t>
            </a:r>
            <a:endParaRPr sz="8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3911600" y="1955800"/>
            <a:ext cx="8382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제조 영업기획 신입</a:t>
            </a:r>
            <a:endParaRPr sz="8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4749800" y="1955800"/>
            <a:ext cx="11430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현직자 글</a:t>
            </a:r>
            <a:endParaRPr sz="8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304800" y="2336800"/>
            <a:ext cx="279300" cy="381000"/>
          </a:xfrm>
          <a:prstGeom prst="rect">
            <a:avLst/>
          </a:prstGeom>
          <a:solidFill>
            <a:srgbClr val="F2F2EE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584200" y="2336800"/>
            <a:ext cx="33273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거래처 이슈가 단톡방에 흩어져 회의 전 다시 찾음</a:t>
            </a:r>
            <a:endParaRPr sz="8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3911600" y="2336800"/>
            <a:ext cx="8382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제조 영업기획 신입</a:t>
            </a:r>
            <a:endParaRPr sz="8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4749800" y="2336800"/>
            <a:ext cx="11430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AI 인터뷰</a:t>
            </a:r>
            <a:endParaRPr sz="8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304800" y="2717800"/>
            <a:ext cx="279300" cy="381000"/>
          </a:xfrm>
          <a:prstGeom prst="rect">
            <a:avLst/>
          </a:prstGeom>
          <a:solidFill>
            <a:srgbClr val="F2F2EE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584200" y="2717800"/>
            <a:ext cx="33273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광고주 수정 요청이 여러 차례 와서 몇 차에 뭐가 바뀌었는지 추적이 어려움</a:t>
            </a:r>
            <a:endParaRPr sz="8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3911600" y="2717800"/>
            <a:ext cx="8382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광고 AE 신입</a:t>
            </a:r>
            <a:endParaRPr sz="8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4749800" y="2717800"/>
            <a:ext cx="11430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현직자 글</a:t>
            </a:r>
            <a:endParaRPr sz="8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304800" y="3098800"/>
            <a:ext cx="279300" cy="381000"/>
          </a:xfrm>
          <a:prstGeom prst="rect">
            <a:avLst/>
          </a:prstGeom>
          <a:solidFill>
            <a:srgbClr val="F2F2EE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6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584200" y="3098800"/>
            <a:ext cx="33273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매체별 광고 성과를 모아 주간 리포트를 엑셀로 작성</a:t>
            </a:r>
            <a:endParaRPr sz="8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3911600" y="3098800"/>
            <a:ext cx="8382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광고 AE 신입</a:t>
            </a:r>
            <a:endParaRPr sz="8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4749800" y="3098800"/>
            <a:ext cx="11430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채용공고</a:t>
            </a:r>
            <a:endParaRPr sz="8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304800" y="3479800"/>
            <a:ext cx="279300" cy="381000"/>
          </a:xfrm>
          <a:prstGeom prst="rect">
            <a:avLst/>
          </a:prstGeom>
          <a:solidFill>
            <a:srgbClr val="F2F2EE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7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584200" y="3479800"/>
            <a:ext cx="33273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예전 시안·자료를 찾느라 폴더를 한참 뒤짐</a:t>
            </a:r>
            <a:endParaRPr sz="8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3911600" y="3479800"/>
            <a:ext cx="8382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광고 AE</a:t>
            </a:r>
            <a:endParaRPr sz="8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4749800" y="3479800"/>
            <a:ext cx="11430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현직자 글</a:t>
            </a:r>
            <a:endParaRPr sz="8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304800" y="3860800"/>
            <a:ext cx="279300" cy="381000"/>
          </a:xfrm>
          <a:prstGeom prst="rect">
            <a:avLst/>
          </a:prstGeom>
          <a:solidFill>
            <a:srgbClr val="F2F2EE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8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584200" y="3860800"/>
            <a:ext cx="33273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경쟁사·시장 동향 자료를 팀원끼리 따로 모아 중복되고 다시 못 찾음</a:t>
            </a:r>
            <a:endParaRPr sz="8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3911600" y="3860800"/>
            <a:ext cx="8382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기획팀 신입·선배</a:t>
            </a:r>
            <a:endParaRPr sz="8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4749800" y="3860800"/>
            <a:ext cx="11430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채용공고·팀 토의</a:t>
            </a:r>
            <a:endParaRPr sz="8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6019800" y="9398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점수 (각 1~5점)</a:t>
            </a:r>
            <a:endParaRPr sz="1000" b="1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6019800" y="1168400"/>
            <a:ext cx="1320900" cy="254100"/>
          </a:xfrm>
          <a:prstGeom prst="rect">
            <a:avLst/>
          </a:prstGeom>
          <a:solidFill>
            <a:srgbClr val="1A1A1A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후보</a:t>
            </a:r>
            <a:endParaRPr sz="85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7340600" y="1168400"/>
            <a:ext cx="381000" cy="254100"/>
          </a:xfrm>
          <a:prstGeom prst="rect">
            <a:avLst/>
          </a:prstGeom>
          <a:solidFill>
            <a:srgbClr val="1A1A1A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자주</a:t>
            </a:r>
            <a:endParaRPr sz="85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7721600" y="1168400"/>
            <a:ext cx="381000" cy="254100"/>
          </a:xfrm>
          <a:prstGeom prst="rect">
            <a:avLst/>
          </a:prstGeom>
          <a:solidFill>
            <a:srgbClr val="1A1A1A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시간</a:t>
            </a:r>
            <a:endParaRPr sz="85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8102600" y="1168400"/>
            <a:ext cx="381000" cy="254100"/>
          </a:xfrm>
          <a:prstGeom prst="rect">
            <a:avLst/>
          </a:prstGeom>
          <a:solidFill>
            <a:srgbClr val="1A1A1A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실수</a:t>
            </a:r>
            <a:endParaRPr sz="85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8483600" y="1168400"/>
            <a:ext cx="355500" cy="254100"/>
          </a:xfrm>
          <a:prstGeom prst="rect">
            <a:avLst/>
          </a:prstGeom>
          <a:solidFill>
            <a:srgbClr val="1A1A1A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합계</a:t>
            </a:r>
            <a:endParaRPr sz="85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6019800" y="1422400"/>
            <a:ext cx="13209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5 수정 요청 추적</a:t>
            </a:r>
            <a:endParaRPr sz="8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7340600" y="1422400"/>
            <a:ext cx="3810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7721600" y="1422400"/>
            <a:ext cx="3810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8102600" y="1422400"/>
            <a:ext cx="3810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8483600" y="1422400"/>
            <a:ext cx="3555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13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7" name="Google Shape;127;p14"/>
          <p:cNvSpPr/>
          <p:nvPr/>
        </p:nvSpPr>
        <p:spPr>
          <a:xfrm>
            <a:off x="6019800" y="1879600"/>
            <a:ext cx="13209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6 주간 성과 리포트</a:t>
            </a:r>
            <a:endParaRPr sz="8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7340600" y="1879600"/>
            <a:ext cx="3810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9" name="Google Shape;129;p14"/>
          <p:cNvSpPr/>
          <p:nvPr/>
        </p:nvSpPr>
        <p:spPr>
          <a:xfrm>
            <a:off x="7721600" y="1879600"/>
            <a:ext cx="3810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8102600" y="1879600"/>
            <a:ext cx="3810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8483600" y="1879600"/>
            <a:ext cx="3555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13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2" name="Google Shape;132;p14"/>
          <p:cNvSpPr/>
          <p:nvPr/>
        </p:nvSpPr>
        <p:spPr>
          <a:xfrm>
            <a:off x="6019800" y="2336800"/>
            <a:ext cx="13209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8 동향 자료 중복</a:t>
            </a:r>
            <a:endParaRPr sz="8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7340600" y="2336800"/>
            <a:ext cx="3810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7721600" y="2336800"/>
            <a:ext cx="3810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8102600" y="2336800"/>
            <a:ext cx="3810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8483600" y="2336800"/>
            <a:ext cx="3555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12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6019800" y="2819400"/>
            <a:ext cx="2819400" cy="736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 cap="flat" cmpd="sng">
            <a:solidFill>
              <a:srgbClr val="EE6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기획팀원들이 경쟁사·시장 동향 자료를 각자 찾아 메신저로 공유해, 같은 자료를 중복 조사하고 보고서를 쓸 때 지난 자료를 다시 못 찾는다.</a:t>
            </a:r>
            <a:endParaRPr sz="95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6019800" y="3683000"/>
            <a:ext cx="2819400" cy="762000"/>
          </a:xfrm>
          <a:prstGeom prst="roundRect">
            <a:avLst>
              <a:gd name="adj" fmla="val 16667"/>
            </a:avLst>
          </a:prstGeom>
          <a:solidFill>
            <a:srgbClr val="FBEDE5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팀 토의로 8번 확정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여러 명이 입력하고 기록이 쌓여 툴 제작에 가장 적합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304800" y="4495800"/>
            <a:ext cx="8534400" cy="381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어디서 찾았나: 채용공고 · NCS · 현직자 영상·글 · AI 인터뷰 · 지인 · 팀 토의   |   AI 인터뷰 후보는 공고에서 확인되면 ✓ 표시</a:t>
            </a:r>
            <a:endParaRPr sz="9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 txBox="1"/>
          <p:nvPr/>
        </p:nvSpPr>
        <p:spPr>
          <a:xfrm>
            <a:off x="304800" y="152400"/>
            <a:ext cx="596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600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문제</a:t>
            </a:r>
            <a:endParaRPr sz="2600">
              <a:solidFill>
                <a:srgbClr val="1A1A1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304800" y="609600"/>
            <a:ext cx="8534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고른 불편과, 지금 그 일이 어떻게 처리되는지 적어요 (As-Is).</a:t>
            </a:r>
            <a:endParaRPr sz="1000">
              <a:solidFill>
                <a:srgbClr val="C2500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304800" y="939800"/>
            <a:ext cx="8534400" cy="711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 cap="flat" cmpd="sng">
            <a:solidFill>
              <a:srgbClr val="EE6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기획팀원들이 경쟁사·시장 동향 자료를 각자 찾아 메신저로 공유하다 보니, 같은 자료를 중복으로 조사하고 보고서를 쓸 때 지난 자료를 다시 찾지 못한다.</a:t>
            </a:r>
            <a:endParaRPr sz="1300">
              <a:solidFill>
                <a:srgbClr val="9A9A95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304800" y="18034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지금은 이렇게 (단계마다 하는 일과 걸리는 시간)</a:t>
            </a:r>
            <a:endParaRPr sz="1000" b="1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304800" y="2057400"/>
            <a:ext cx="1905000" cy="1473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1단계</a:t>
            </a:r>
            <a:endParaRPr sz="10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각자 뉴스·리포트를 검색해 동향 자료 수집</a:t>
            </a:r>
            <a:endParaRPr sz="10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0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걸리는 시간</a:t>
            </a:r>
            <a:endParaRPr sz="10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1인 하루 30분</a:t>
            </a:r>
            <a:endParaRPr sz="10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2209800" y="2616200"/>
            <a:ext cx="406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sz="16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2514600" y="2057400"/>
            <a:ext cx="1905000" cy="1473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2단계</a:t>
            </a:r>
            <a:endParaRPr sz="10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링크를 단톡방·메일로 공유 (이미 올라왔는지 모름)</a:t>
            </a:r>
            <a:endParaRPr sz="10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0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걸리는 시간</a:t>
            </a:r>
            <a:endParaRPr sz="10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1인 하루 10분</a:t>
            </a:r>
            <a:endParaRPr sz="10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4419600" y="2616200"/>
            <a:ext cx="406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sz="16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4724400" y="2057400"/>
            <a:ext cx="1905000" cy="1473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3단계</a:t>
            </a:r>
            <a:endParaRPr sz="10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보고서 쓸 때 단톡방 스크롤·폴더 뒤져 지난 자료 찾기</a:t>
            </a:r>
            <a:endParaRPr sz="10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0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걸리는 시간</a:t>
            </a:r>
            <a:endParaRPr sz="10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1인 주 1시간</a:t>
            </a:r>
            <a:endParaRPr sz="10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6629400" y="2616200"/>
            <a:ext cx="406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sz="16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6934200" y="2057400"/>
            <a:ext cx="1905000" cy="1473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4단계</a:t>
            </a:r>
            <a:endParaRPr sz="10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못 찾은 자료를 다시 검색해 보고서에 옮겨 적기</a:t>
            </a:r>
            <a:endParaRPr sz="10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0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걸리는 시간</a:t>
            </a:r>
            <a:endParaRPr sz="10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1인 주 1시간</a:t>
            </a:r>
            <a:endParaRPr sz="10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304800" y="3708400"/>
            <a:ext cx="4191000" cy="736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지금 모두 합쳐 걸리는 시간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1인당 주 약 5시간 → 기획팀 4명 주 약 20시간 (가상)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4648200" y="3708400"/>
            <a:ext cx="4191000" cy="736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누가 이 불편을 겪나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자료 수집을 맡는 기획팀 신입, 그 자료로 보고서를 쓰는 선배·팀장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/>
          <p:nvPr/>
        </p:nvSpPr>
        <p:spPr>
          <a:xfrm>
            <a:off x="304800" y="152400"/>
            <a:ext cx="596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600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원인</a:t>
            </a:r>
            <a:endParaRPr sz="2600">
              <a:solidFill>
                <a:srgbClr val="1A1A1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304800" y="609600"/>
            <a:ext cx="8534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"왜?"를 세 번 물어요. "사람이 게을러서"로 끝나면 다시 물어요.</a:t>
            </a:r>
            <a:endParaRPr sz="1000">
              <a:solidFill>
                <a:srgbClr val="C2500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304800" y="939800"/>
            <a:ext cx="38100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왜 지난 자료를 다시 못 찾나?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254000" y="838200"/>
            <a:ext cx="584100" cy="203100"/>
          </a:xfrm>
          <a:prstGeom prst="roundRect">
            <a:avLst>
              <a:gd name="adj" fmla="val 16667"/>
            </a:avLst>
          </a:prstGeom>
          <a:solidFill>
            <a:srgbClr val="EE6A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왜 1</a:t>
            </a:r>
            <a:endParaRPr sz="80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4114800" y="1143000"/>
            <a:ext cx="406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sz="16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4521200" y="939800"/>
            <a:ext cx="43179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자료가 단톡방·메일·개인 폴더에 흩어져 있고, 공유 폴더(아카이브)에는 일부만 올라가서</a:t>
            </a:r>
            <a:endParaRPr sz="10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304800" y="1752600"/>
            <a:ext cx="38100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왜 공유 폴더에 안 올리고, 올려도 못 찾나?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254000" y="1651000"/>
            <a:ext cx="584100" cy="203100"/>
          </a:xfrm>
          <a:prstGeom prst="roundRect">
            <a:avLst>
              <a:gd name="adj" fmla="val 16667"/>
            </a:avLst>
          </a:prstGeom>
          <a:solidFill>
            <a:srgbClr val="EE6A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왜 2</a:t>
            </a:r>
            <a:endParaRPr sz="80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4114800" y="1955800"/>
            <a:ext cx="406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sz="16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4521200" y="1752600"/>
            <a:ext cx="43179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올릴 때 요약·분류를 직접 정리해야 해서 번거롭고, 올려도 파일명으로만 찾을 수 있어서</a:t>
            </a:r>
            <a:endParaRPr sz="10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304800" y="2565400"/>
            <a:ext cx="38100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왜 그렇게 되나?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54000" y="2463800"/>
            <a:ext cx="584100" cy="203100"/>
          </a:xfrm>
          <a:prstGeom prst="roundRect">
            <a:avLst>
              <a:gd name="adj" fmla="val 16667"/>
            </a:avLst>
          </a:prstGeom>
          <a:solidFill>
            <a:srgbClr val="EE6A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왜 3</a:t>
            </a:r>
            <a:endParaRPr sz="80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3" name="Google Shape;173;p16"/>
          <p:cNvSpPr txBox="1"/>
          <p:nvPr/>
        </p:nvSpPr>
        <p:spPr>
          <a:xfrm>
            <a:off x="4114800" y="2768600"/>
            <a:ext cx="406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sz="16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4521200" y="2565400"/>
            <a:ext cx="43179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기록 형식(출처·요약·분류)이 정해져 있지 않고, 등록·검색을 돕는 도구 없이 개인 습관에 맡겨져 있어서</a:t>
            </a:r>
            <a:endParaRPr sz="10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304800" y="3454400"/>
            <a:ext cx="8534400" cy="888900"/>
          </a:xfrm>
          <a:prstGeom prst="roundRect">
            <a:avLst>
              <a:gd name="adj" fmla="val 16667"/>
            </a:avLst>
          </a:prstGeom>
          <a:solidFill>
            <a:srgbClr val="FBEDE5"/>
          </a:solidFill>
          <a:ln w="25400" cap="flat" cmpd="sng">
            <a:solidFill>
              <a:srgbClr val="EE6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진짜 원인</a:t>
            </a:r>
            <a:endParaRPr sz="1300">
              <a:solidFill>
                <a:srgbClr val="9A9A95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아카이브는 있지만, 쉽게 올리고 다시 찾게 해 주는 공용 창구와 기록 형식(출처·요약·분류)이 없다.</a:t>
            </a:r>
            <a:endParaRPr sz="1300">
              <a:solidFill>
                <a:srgbClr val="9A9A95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"/>
          <p:cNvSpPr txBox="1"/>
          <p:nvPr/>
        </p:nvSpPr>
        <p:spPr>
          <a:xfrm>
            <a:off x="304800" y="152400"/>
            <a:ext cx="596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600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해결</a:t>
            </a:r>
            <a:endParaRPr sz="2600">
              <a:solidFill>
                <a:srgbClr val="1A1A1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81" name="Google Shape;181;p17"/>
          <p:cNvSpPr txBox="1"/>
          <p:nvPr/>
        </p:nvSpPr>
        <p:spPr>
          <a:xfrm>
            <a:off x="304800" y="609600"/>
            <a:ext cx="8534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바뀐 뒤 모습을 한 줄로, 그리고 AI로 끝낼 일과 툴로 만들 일을 나눠요 (To-Be).</a:t>
            </a:r>
            <a:endParaRPr sz="1000">
              <a:solidFill>
                <a:srgbClr val="C2500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304800" y="939800"/>
            <a:ext cx="85344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 cap="flat" cmpd="sng">
            <a:solidFill>
              <a:srgbClr val="EE6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기사 본문만 붙여넣으면 요약·분류가 자동으로 쌓이고, 누구나 1분 안에 지난 자료와 후속 소식까지 찾는다.</a:t>
            </a:r>
            <a:endParaRPr sz="1300">
              <a:solidFill>
                <a:srgbClr val="9A9A95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304800" y="1778000"/>
            <a:ext cx="3810000" cy="635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 xml:space="preserve">지금: </a:t>
            </a:r>
            <a:r>
              <a:rPr lang="ko" sz="12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지난 자료 재검색 1인 주 2시간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4114800" y="1930400"/>
            <a:ext cx="406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sz="16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4521200" y="1778000"/>
            <a:ext cx="4317900" cy="635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 cap="flat" cmpd="sng">
            <a:solidFill>
              <a:srgbClr val="EE6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 xml:space="preserve">바뀐 뒤: </a:t>
            </a:r>
            <a:r>
              <a:rPr lang="ko" sz="12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1인 주 10분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304800" y="25654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AI로? 툴로?  여러 명이 입력하고 기록이 쌓이면 툴이에요</a:t>
            </a:r>
            <a:endParaRPr sz="1000" b="1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304800" y="2819400"/>
            <a:ext cx="5841900" cy="254100"/>
          </a:xfrm>
          <a:prstGeom prst="rect">
            <a:avLst/>
          </a:prstGeom>
          <a:solidFill>
            <a:srgbClr val="1A1A1A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할 일</a:t>
            </a:r>
            <a:endParaRPr sz="85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6146800" y="2819400"/>
            <a:ext cx="2692500" cy="254100"/>
          </a:xfrm>
          <a:prstGeom prst="rect">
            <a:avLst/>
          </a:prstGeom>
          <a:solidFill>
            <a:srgbClr val="1A1A1A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AI 채팅으로 / 툴로 제작</a:t>
            </a:r>
            <a:endParaRPr sz="85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304800" y="3073400"/>
            <a:ext cx="58419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기사 본문 붙여넣기 → 3줄 요약·분류 자동 입력, 시사점 한 줄 메모 저장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6146800" y="3073400"/>
            <a:ext cx="26925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툴로 제작 (AI 요약 내장)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304800" y="3530600"/>
            <a:ext cx="58419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통합 검색, 중복 등록 경고, 후속 자료 연결로 이슈 흐름 보기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6146800" y="3530600"/>
            <a:ext cx="26925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툴로 제작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304800" y="3987800"/>
            <a:ext cx="58419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이번 주 자료로 주간 동향 브리핑 생성  /  브리핑을 보고서 문장으로 다듬기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6146800" y="3987800"/>
            <a:ext cx="26925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툴로 제작  /  AI 채팅으로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"/>
          <p:cNvSpPr txBox="1"/>
          <p:nvPr/>
        </p:nvSpPr>
        <p:spPr>
          <a:xfrm>
            <a:off x="304800" y="152400"/>
            <a:ext cx="596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600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만들 것</a:t>
            </a:r>
            <a:endParaRPr sz="2600">
              <a:solidFill>
                <a:srgbClr val="1A1A1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304800" y="609600"/>
            <a:ext cx="8534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이 장을 다 쓰면 AI에게 기획서로 정리시켜 저녁 제작을 시작해요.</a:t>
            </a:r>
            <a:endParaRPr sz="1000">
              <a:solidFill>
                <a:srgbClr val="C2500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304800" y="939800"/>
            <a:ext cx="3048000" cy="60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 cap="flat" cmpd="sng">
            <a:solidFill>
              <a:srgbClr val="EE6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동향 서랍</a:t>
            </a:r>
            <a:endParaRPr sz="1800">
              <a:solidFill>
                <a:srgbClr val="9A9A95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3505200" y="939800"/>
            <a:ext cx="5334000" cy="60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기획팀원이 기사 본문만 붙여넣으면 요약·분류되어 쌓이고, 팀 누구나 검색·후속 연결·주간 브리핑으로 바로 보고서에 쓰는 동향 자료함</a:t>
            </a:r>
            <a:endParaRPr sz="105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304800" y="1701800"/>
            <a:ext cx="2692500" cy="198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2" tIns="54864" rIns="73152" bIns="5486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① 입력 화면</a:t>
            </a:r>
            <a:endParaRPr sz="85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85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입력 항목</a:t>
            </a:r>
            <a:endParaRPr sz="85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제목 · 링크(출처)</a:t>
            </a:r>
            <a:endParaRPr sz="85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기사 본문 붙여넣기 → AI가 3줄 요약·분류 자동 입력</a:t>
            </a:r>
            <a:endParaRPr sz="85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분류(경쟁사/시장/정책/기술) · 키워드</a:t>
            </a:r>
            <a:endParaRPr sz="85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시사점 한 줄 메모</a:t>
            </a:r>
            <a:endParaRPr sz="85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후속으로 연결할 기존 자료 선택</a:t>
            </a:r>
            <a:endParaRPr sz="85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등록자 · 등록일(자동)</a:t>
            </a:r>
            <a:endParaRPr sz="85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3124200" y="1701800"/>
            <a:ext cx="2692500" cy="198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2" tIns="54864" rIns="73152" bIns="5486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② 조회 화면</a:t>
            </a:r>
            <a:endParaRPr sz="85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85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무엇을 어떻게 보여주나</a:t>
            </a:r>
            <a:endParaRPr sz="85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최신순 카드 목록 (제목·요약·분류·메모)</a:t>
            </a:r>
            <a:endParaRPr sz="85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통합 검색창 + 분류 버튼</a:t>
            </a:r>
            <a:endParaRPr sz="85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이슈별 후속 자료를 날짜순 타임라인으로</a:t>
            </a:r>
            <a:endParaRPr sz="85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이번 주 동향 브리핑 버튼 → 보고서 초안</a:t>
            </a:r>
            <a:endParaRPr sz="85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5969000" y="17018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기능 5개 (16:40부터 이 순서로 요청)</a:t>
            </a:r>
            <a:endParaRPr sz="1000" b="1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5969000" y="1930400"/>
            <a:ext cx="279300" cy="254100"/>
          </a:xfrm>
          <a:prstGeom prst="rect">
            <a:avLst/>
          </a:prstGeom>
          <a:solidFill>
            <a:srgbClr val="1A1A1A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#</a:t>
            </a:r>
            <a:endParaRPr sz="85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6248400" y="1930400"/>
            <a:ext cx="1498500" cy="254100"/>
          </a:xfrm>
          <a:prstGeom prst="rect">
            <a:avLst/>
          </a:prstGeom>
          <a:solidFill>
            <a:srgbClr val="1A1A1A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기능</a:t>
            </a:r>
            <a:endParaRPr sz="85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7747000" y="1930400"/>
            <a:ext cx="1092300" cy="254100"/>
          </a:xfrm>
          <a:prstGeom prst="rect">
            <a:avLst/>
          </a:prstGeom>
          <a:solidFill>
            <a:srgbClr val="1A1A1A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확인 방법</a:t>
            </a:r>
            <a:endParaRPr sz="85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5969000" y="2184400"/>
            <a:ext cx="279300" cy="342900"/>
          </a:xfrm>
          <a:prstGeom prst="rect">
            <a:avLst/>
          </a:prstGeom>
          <a:solidFill>
            <a:srgbClr val="F2F2EE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6248400" y="2184400"/>
            <a:ext cx="1498500" cy="3429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0" tIns="18288" rIns="45720" bIns="1828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자료 등록·저장 (시사점 메모 포함)</a:t>
            </a:r>
            <a:endParaRPr sz="7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7747000" y="2184400"/>
            <a:ext cx="1092300" cy="3429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0" tIns="18288" rIns="45720" bIns="1828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새로고침·다른 화면에서도 보이나</a:t>
            </a:r>
            <a:endParaRPr sz="7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5969000" y="2527300"/>
            <a:ext cx="279300" cy="342900"/>
          </a:xfrm>
          <a:prstGeom prst="rect">
            <a:avLst/>
          </a:prstGeom>
          <a:solidFill>
            <a:srgbClr val="F2F2EE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6248400" y="2527300"/>
            <a:ext cx="1498500" cy="3429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0" tIns="18288" rIns="45720" bIns="1828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통합 검색 + 분류 필터</a:t>
            </a:r>
            <a:endParaRPr sz="7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7747000" y="2527300"/>
            <a:ext cx="1092300" cy="3429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0" tIns="18288" rIns="45720" bIns="1828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키워드로 해당 자료만 나오나</a:t>
            </a:r>
            <a:endParaRPr sz="7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5969000" y="2870200"/>
            <a:ext cx="279300" cy="342900"/>
          </a:xfrm>
          <a:prstGeom prst="rect">
            <a:avLst/>
          </a:prstGeom>
          <a:solidFill>
            <a:srgbClr val="F2F2EE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6248400" y="2870200"/>
            <a:ext cx="1498500" cy="3429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0" tIns="18288" rIns="45720" bIns="1828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중복 방지 (URL + 제목 비교)</a:t>
            </a:r>
            <a:endParaRPr sz="7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7747000" y="2870200"/>
            <a:ext cx="1092300" cy="3429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0" tIns="18288" rIns="45720" bIns="1828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같은 기사 등록 시 경고가 뜨나</a:t>
            </a:r>
            <a:endParaRPr sz="7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5969000" y="3213100"/>
            <a:ext cx="279300" cy="342900"/>
          </a:xfrm>
          <a:prstGeom prst="rect">
            <a:avLst/>
          </a:prstGeom>
          <a:solidFill>
            <a:srgbClr val="F2F2EE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6248400" y="3213100"/>
            <a:ext cx="1498500" cy="3429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0" tIns="18288" rIns="45720" bIns="1828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본문 붙여넣기 → AI 요약·분류 자동 입력</a:t>
            </a:r>
            <a:endParaRPr sz="7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7747000" y="3213100"/>
            <a:ext cx="1092300" cy="3429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0" tIns="18288" rIns="45720" bIns="1828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요약 3줄·분류가 채워지나</a:t>
            </a:r>
            <a:endParaRPr sz="7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5969000" y="3556000"/>
            <a:ext cx="279300" cy="342900"/>
          </a:xfrm>
          <a:prstGeom prst="rect">
            <a:avLst/>
          </a:prstGeom>
          <a:solidFill>
            <a:srgbClr val="F2F2EE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6248400" y="3556000"/>
            <a:ext cx="1498500" cy="3429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0" tIns="18288" rIns="45720" bIns="1828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후속 자료 연결 + 주간 동향 브리핑</a:t>
            </a:r>
            <a:endParaRPr sz="7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7747000" y="3556000"/>
            <a:ext cx="1092300" cy="3429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0" tIns="18288" rIns="45720" bIns="1828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이슈 묶음과 이번 주 요약이 나오나</a:t>
            </a:r>
            <a:endParaRPr sz="7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304800" y="3977639"/>
            <a:ext cx="8534400" cy="457200"/>
          </a:xfrm>
          <a:prstGeom prst="roundRect">
            <a:avLst>
              <a:gd name="adj" fmla="val 16667"/>
            </a:avLst>
          </a:prstGeom>
          <a:solidFill>
            <a:srgbClr val="FBEDE5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완성 기준: 입력 → 저장 → 다른 사람 화면에서 조회 + 인터넷 주소</a:t>
            </a:r>
            <a:endParaRPr sz="11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0" name="Benchmark note"/>
          <p:cNvSpPr txBox="1"/>
          <p:nvPr/>
        </p:nvSpPr>
        <p:spPr>
          <a:xfrm>
            <a:off x="301752" y="4507992"/>
            <a:ext cx="853135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 xml:space="preserve">벤치마킹 근거  </a:t>
            </a:r>
            <a:r>
              <a:rPr lang="ko" sz="8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Feedly(주간 브리핑·중복 제거) · Klue(자료별 메모·경쟁사별 묶음) · Raindrop.io(통합 검색·URL 중복 찾기) · 빅카인즈(이슈 타임라인)</a:t>
            </a:r>
            <a:endParaRPr sz="800">
              <a:solidFill>
                <a:srgbClr val="C2500D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 xml:space="preserve">우리 차별점  </a:t>
            </a:r>
            <a:r>
              <a:rPr lang="ko" sz="8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한국어 기사 기준 · 작은 기획팀용 · 별도 비용 없음 · 중복을 URL과 제목으로 함께 비교 · 등록부터 보고서 초안까지 한 화면</a:t>
            </a:r>
            <a:endParaRPr sz="800">
              <a:solidFill>
                <a:srgbClr val="C2500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"/>
          <p:cNvSpPr txBox="1"/>
          <p:nvPr/>
        </p:nvSpPr>
        <p:spPr>
          <a:xfrm>
            <a:off x="304800" y="152400"/>
            <a:ext cx="596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600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기대 효과</a:t>
            </a:r>
            <a:endParaRPr sz="2600">
              <a:solidFill>
                <a:srgbClr val="1A1A1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304800" y="609600"/>
            <a:ext cx="8534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발표 마지막 장이에요. 2일차 시연 때 다시 채워요.</a:t>
            </a:r>
            <a:endParaRPr sz="1000">
              <a:solidFill>
                <a:srgbClr val="C2500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304800" y="939800"/>
            <a:ext cx="8534400" cy="762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 cap="flat" cmpd="sng">
            <a:solidFill>
              <a:srgbClr val="EE6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기획팀 신입</a:t>
            </a:r>
            <a:r>
              <a:rPr lang="ko" sz="1200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 xml:space="preserve"> 지난 자료 재검색 주 2시간 → 10분   </a:t>
            </a:r>
            <a:r>
              <a:rPr lang="ko" sz="1200" b="1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선배·팀장</a:t>
            </a:r>
            <a:r>
              <a:rPr lang="ko" sz="1200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 xml:space="preserve"> 주간 동향을 브리핑으로 바로 받아 봄</a:t>
            </a:r>
            <a:endParaRPr sz="1200">
              <a:solidFill>
                <a:srgbClr val="9A9A95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304800" y="1854200"/>
            <a:ext cx="4191000" cy="1397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AI가 한 일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코드 작성, 기사 요약·분류 기능, 직무·불편 자료 조사, 벤치마킹 정리, 기획서 정리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4648200" y="1854200"/>
            <a:ext cx="4191000" cy="1397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 cap="flat" cmpd="sng">
            <a:solidFill>
              <a:srgbClr val="EE6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우리 팀이 한 일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불편 찾기와 주제 결정, 원인 분석, 벤치마킹 후 기능 선택·순서 결정, 직접 입력하며 테스트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304800" y="3403600"/>
            <a:ext cx="8534400" cy="1041300"/>
          </a:xfrm>
          <a:prstGeom prst="roundRect">
            <a:avLst>
              <a:gd name="adj" fmla="val 16667"/>
            </a:avLst>
          </a:prstGeom>
          <a:solidFill>
            <a:srgbClr val="F2F2EE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2일차에 채우기</a:t>
            </a:r>
            <a:endParaRPr sz="11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 xml:space="preserve">직접 눌러서 확인한 버그나 안 되는 기능: </a:t>
            </a:r>
            <a:r>
              <a:rPr lang="ko" sz="11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(시연 후 기록)</a:t>
            </a:r>
            <a:endParaRPr sz="11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 xml:space="preserve">다른 팀이 알려준 개선점: </a:t>
            </a:r>
            <a:r>
              <a:rPr lang="ko" sz="11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(시연 후 기록)</a:t>
            </a:r>
            <a:endParaRPr sz="11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719</Words>
  <Application>Microsoft Office PowerPoint</Application>
  <PresentationFormat>화면 슬라이드 쇼(16:9)</PresentationFormat>
  <Paragraphs>183</Paragraphs>
  <Slides>7</Slides>
  <Notes>7</Notes>
  <HiddenSlides>1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Arial</vt:lpstr>
      <vt:lpstr>Noto Sans KR</vt:lpstr>
      <vt:lpstr>Do Hyeon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권 승은</cp:lastModifiedBy>
  <cp:revision>2</cp:revision>
  <dcterms:modified xsi:type="dcterms:W3CDTF">2026-10-01T06:33:30Z</dcterms:modified>
</cp:coreProperties>
</file>